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A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60" kern="0" dirty="0">
                <a:solidFill>
                  <a:srgbClr val="A8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AHMEDNAGAR JILHA MARATHA VIDYA PRASARAK SAMAJ'S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Arts, Commerce and Science College, Ahmednagar (Autonomous)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for Advanced Studies in Applied Sciences (CASAS)  |  Department of Computer Science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29000" y="1170432"/>
            <a:ext cx="2286000" cy="25603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Toilet Seva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7200" y="2231136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Sanitation Locator &amp; Complaint System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Ahilyanagar Municipal Corporation  ·  M.Sc. Computer Science II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328" y="3017520"/>
            <a:ext cx="1627632" cy="32918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3072384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048256" y="3017520"/>
            <a:ext cx="1627632" cy="32918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2093976" y="3072384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758184" y="3017520"/>
            <a:ext cx="1627632" cy="329184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17" name="Text 15"/>
          <p:cNvSpPr/>
          <p:nvPr/>
        </p:nvSpPr>
        <p:spPr>
          <a:xfrm>
            <a:off x="3803904" y="3072384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&amp; Photos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68112" y="3017520"/>
            <a:ext cx="1627632" cy="329184"/>
          </a:xfrm>
          <a:prstGeom prst="rect">
            <a:avLst/>
          </a:prstGeom>
          <a:solidFill>
            <a:srgbClr val="01579B"/>
          </a:solidFill>
          <a:ln/>
        </p:spPr>
      </p:sp>
      <p:sp>
        <p:nvSpPr>
          <p:cNvPr id="19" name="Text 17"/>
          <p:cNvSpPr/>
          <p:nvPr/>
        </p:nvSpPr>
        <p:spPr>
          <a:xfrm>
            <a:off x="5513832" y="3072384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178040" y="3017520"/>
            <a:ext cx="1627632" cy="329184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3072384"/>
            <a:ext cx="1536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Toilets Mapped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7200" y="35295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 toilet-seva.netlify.app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38770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Jangale Navnath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151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Prof. ______________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4256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____ / ____ /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Toilet Seva?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Progressive Web App that helps citizens of Ahilyanagar find the nearest public toilet on a live map, rate its cleanliness, and lodge a complaint with photographs directly to the Municipal Corporation.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2697480" cy="2194560"/>
          </a:xfrm>
          <a:prstGeom prst="rect">
            <a:avLst/>
          </a:prstGeom>
          <a:solidFill>
            <a:srgbClr val="E8F5EE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74520"/>
            <a:ext cx="269748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" y="207568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64" y="2441448"/>
            <a:ext cx="2404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shows the nearest toilet first, with walking distance and directions.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18688" y="1874520"/>
            <a:ext cx="2697480" cy="2194560"/>
          </a:xfrm>
          <a:prstGeom prst="rect">
            <a:avLst/>
          </a:prstGeom>
          <a:solidFill>
            <a:srgbClr val="E8F5EE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18688" y="1874520"/>
            <a:ext cx="269748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3364992" y="207568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64992" y="2441448"/>
            <a:ext cx="2404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rate cleanliness and facilities, creating public accountability.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71616" y="1874520"/>
            <a:ext cx="2697480" cy="2194560"/>
          </a:xfrm>
          <a:prstGeom prst="rect">
            <a:avLst/>
          </a:prstGeom>
          <a:solidFill>
            <a:srgbClr val="E8F5EE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71616" y="1874520"/>
            <a:ext cx="269748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207568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2441448"/>
            <a:ext cx="2404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with photographs reach the Corporation instantly and are tracked.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261104"/>
            <a:ext cx="8412480" cy="365760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" y="4315968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26 public and community toilets from the official Municipal Corporation list of 2026 are mapped.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Project Purpose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We Building This?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2697480" cy="2286000"/>
          </a:xfrm>
          <a:prstGeom prst="rect">
            <a:avLst/>
          </a:prstGeom>
          <a:solidFill>
            <a:srgbClr val="E0F2F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34440"/>
            <a:ext cx="269748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143560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Convenience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" y="1801368"/>
            <a:ext cx="2404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Citizens, especially women and travellers, can locate a usable toilet without asking around.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18688" y="1234440"/>
            <a:ext cx="2697480" cy="2286000"/>
          </a:xfrm>
          <a:prstGeom prst="rect">
            <a:avLst/>
          </a:prstGeom>
          <a:solidFill>
            <a:srgbClr val="E0F2F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1234440"/>
            <a:ext cx="269748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3364992" y="143560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 Accountability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64992" y="1801368"/>
            <a:ext cx="2404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and photographic complaints give the Corporation real evidence of ground conditions.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71616" y="1234440"/>
            <a:ext cx="2697480" cy="2286000"/>
          </a:xfrm>
          <a:prstGeom prst="rect">
            <a:avLst/>
          </a:prstGeom>
          <a:solidFill>
            <a:srgbClr val="E0F2F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71616" y="1234440"/>
            <a:ext cx="269748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43560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Governance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1801368"/>
            <a:ext cx="2404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Swachh Bharat Mission through a measurable, data-driven sanitation record.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8412480" cy="45720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8039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every citizen can find a clean toilet nearby, and every complaint reaches the right officer.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Scope Statement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This Project Cover?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2697480" cy="2286000"/>
          </a:xfrm>
          <a:prstGeom prst="rect">
            <a:avLst/>
          </a:prstGeom>
          <a:solidFill>
            <a:srgbClr val="E3F2FD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34440"/>
            <a:ext cx="269748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143560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" y="1801368"/>
            <a:ext cx="2404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of Ahilyanagar, and sanitation officers of the Municipal Corporation.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18688" y="1234440"/>
            <a:ext cx="2697480" cy="2286000"/>
          </a:xfrm>
          <a:prstGeom prst="rect">
            <a:avLst/>
          </a:prstGeom>
          <a:solidFill>
            <a:srgbClr val="E3F2FD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1234440"/>
            <a:ext cx="269748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3364992" y="143560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Process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64992" y="1801368"/>
            <a:ext cx="2404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locating a toilet, through rating and complaint, to resolution by the administration.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71616" y="1234440"/>
            <a:ext cx="2697480" cy="2286000"/>
          </a:xfrm>
          <a:prstGeom prst="rect">
            <a:avLst/>
          </a:prstGeom>
          <a:solidFill>
            <a:srgbClr val="E3F2FD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71616" y="1234440"/>
            <a:ext cx="2697480" cy="457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435608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Exclusions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1801368"/>
            <a:ext cx="240487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online payment, no IoT sensors, and no integration with other city services in this phase.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261104"/>
            <a:ext cx="8412480" cy="36576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4315968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scope is limited to the Ahilyanagar Municipal Corporation area.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1579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Definition of Scope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In-Scope vs Out-of-Scope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4114800" cy="2926080"/>
          </a:xfrm>
          <a:prstGeom prst="rect">
            <a:avLst/>
          </a:prstGeom>
          <a:solidFill>
            <a:srgbClr val="E8F5E9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88720"/>
            <a:ext cx="4114800" cy="411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2618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IN-SCOPE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" y="17007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Map of all public and community toilets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0352" y="19933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GPS with nearest-first sorting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0352" y="22860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Walking distance and directions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0352" y="25786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Star rating and facility details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0352" y="287121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Complaint with up to three photographs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0352" y="31638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Admin dashboard for the Corporation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0352" y="34564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Bilingual Marathi and English interface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0352" y="37490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Installable app with offline support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1188720"/>
            <a:ext cx="4114800" cy="2926080"/>
          </a:xfrm>
          <a:prstGeom prst="rect">
            <a:avLst/>
          </a:prstGeom>
          <a:solidFill>
            <a:srgbClr val="FFEBEE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1188720"/>
            <a:ext cx="4114800" cy="41148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4828032" y="126187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OUT-OF-SCOPE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28032" y="17007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Online payment for paid toilets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28032" y="19933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IoT cleanliness sensors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28032" y="228600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Native Android / iOS app (future)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28032" y="25786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Booking or reservation of facilities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28032" y="287121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Integration with other city departments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28032" y="31638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Automated cleaning-staff scheduling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Problem Statement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Faced by Citizens Today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07008"/>
            <a:ext cx="8412480" cy="6400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207008"/>
            <a:ext cx="45720" cy="64008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" y="12710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Toilets are hard to locate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" y="15361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visitor in an unfamiliar part of the city has no way of knowing where the nearest public toilet is.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956816"/>
            <a:ext cx="8412480" cy="6400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1956816"/>
            <a:ext cx="45720" cy="64008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" y="202082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information on condition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3504" y="22860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cannot know in advance whether a toilet is open, clean, or has water before walking there.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706624"/>
            <a:ext cx="8412480" cy="6400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2706624"/>
            <a:ext cx="45720" cy="64008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" y="27706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go nowhere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03504" y="3035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simple channel to report a dirty or broken toilet, and no way to track what happened to the report.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456432"/>
            <a:ext cx="8412480" cy="64008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3456432"/>
            <a:ext cx="45720" cy="64008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" y="3520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for the Corporation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3504" y="37856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Officials have no consolidated record of which facilities are failing and how often.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261104"/>
            <a:ext cx="8412480" cy="365760"/>
          </a:xfrm>
          <a:prstGeom prst="rect">
            <a:avLst/>
          </a:prstGeom>
          <a:solidFill>
            <a:srgbClr val="FFEBEE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" y="4315968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F13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— public facilities remain underused and poorly maintained, and citizens suffer in silence.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Objectives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System Must Achieve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2697480" cy="1298448"/>
          </a:xfrm>
          <a:prstGeom prst="rect">
            <a:avLst/>
          </a:prstGeom>
          <a:solidFill>
            <a:srgbClr val="E8F5E9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34440"/>
            <a:ext cx="269748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1417320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" y="1746504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nearest toilet using live GPS, sorted by walking distance.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18688" y="1234440"/>
            <a:ext cx="2697480" cy="1298448"/>
          </a:xfrm>
          <a:prstGeom prst="rect">
            <a:avLst/>
          </a:prstGeom>
          <a:solidFill>
            <a:srgbClr val="E3F2FD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1234440"/>
            <a:ext cx="26974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3364992" y="1417320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4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64992" y="1746504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timing, facilities, accessibility and citizen ratings.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71616" y="1234440"/>
            <a:ext cx="2697480" cy="1298448"/>
          </a:xfrm>
          <a:prstGeom prst="rect">
            <a:avLst/>
          </a:prstGeom>
          <a:solidFill>
            <a:srgbClr val="E0F2F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71616" y="1234440"/>
            <a:ext cx="2697480" cy="5486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417320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1746504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turn-by-turn walking directions in one tap.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697480"/>
            <a:ext cx="2697480" cy="1298448"/>
          </a:xfrm>
          <a:prstGeom prst="rect">
            <a:avLst/>
          </a:prstGeom>
          <a:solidFill>
            <a:srgbClr val="F3E5F5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697480"/>
            <a:ext cx="2697480" cy="54864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" y="2880360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20D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2064" y="3209544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a complaint with photographs and location in under a minute.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18688" y="2697480"/>
            <a:ext cx="2697480" cy="1298448"/>
          </a:xfrm>
          <a:prstGeom prst="rect">
            <a:avLst/>
          </a:prstGeom>
          <a:solidFill>
            <a:srgbClr val="ECEFF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18688" y="2697480"/>
            <a:ext cx="2697480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27" name="Text 25"/>
          <p:cNvSpPr/>
          <p:nvPr/>
        </p:nvSpPr>
        <p:spPr>
          <a:xfrm>
            <a:off x="3364992" y="2880360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64992" y="3209544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Corporation a dashboard to track and resolve complaints.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71616" y="2697480"/>
            <a:ext cx="2697480" cy="1298448"/>
          </a:xfrm>
          <a:prstGeom prst="rect">
            <a:avLst/>
          </a:prstGeom>
          <a:solidFill>
            <a:srgbClr val="E1F0FB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71616" y="2697480"/>
            <a:ext cx="2697480" cy="54864"/>
          </a:xfrm>
          <a:prstGeom prst="rect">
            <a:avLst/>
          </a:prstGeom>
          <a:solidFill>
            <a:srgbClr val="01579B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2880360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17920" y="3209544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both Marathi and English readers in the same interface.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303F9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System Comparison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Situation vs Proposed System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solidFill>
            <a:srgbClr val="303F9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243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12435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Situation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12435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572768"/>
            <a:ext cx="8412480" cy="36576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6276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 toilet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468880" y="16276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passers-by or search blindly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0" y="16276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map, nearest shown first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1956816"/>
            <a:ext cx="8412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468880" y="20116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20116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walking distance displayed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340864"/>
            <a:ext cx="8412480" cy="36576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395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68880" y="23957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on arrival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0" y="23957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and facilities shown in advance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724912"/>
            <a:ext cx="8412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77977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468880" y="277977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channel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0" y="277977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complaint sent in under a minute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108960"/>
            <a:ext cx="8412480" cy="36576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1638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468880" y="31638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possible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0" y="31638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visible until resolved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3493008"/>
            <a:ext cx="8412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547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468880" y="35478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0" y="35478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complaint stored and searchable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3877056"/>
            <a:ext cx="8412480" cy="365760"/>
          </a:xfrm>
          <a:prstGeom prst="rect">
            <a:avLst/>
          </a:prstGeom>
          <a:solidFill>
            <a:srgbClr val="E8EAF6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931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468880" y="39319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signage only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69280" y="39319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and English together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4261104"/>
            <a:ext cx="8412480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2" name="Text 40"/>
          <p:cNvSpPr/>
          <p:nvPr/>
        </p:nvSpPr>
        <p:spPr>
          <a:xfrm>
            <a:off x="530352" y="4315968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turns an invisible public service into a measurable, accountable one.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Technology Stack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and Technologies Used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133856"/>
            <a:ext cx="8412480" cy="36576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1887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31720" y="11887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0" y="118872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517904"/>
            <a:ext cx="8412480" cy="3657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57276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31720" y="15727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03520" y="157276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responsive interface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1901952"/>
            <a:ext cx="8412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195681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Type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31720" y="195681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303520" y="19568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Installable, works offline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286000"/>
            <a:ext cx="8412480" cy="3657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34086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331720" y="23408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03520" y="234086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rendering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670048"/>
            <a:ext cx="8412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7249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Data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331720" y="27249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303520" y="272491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map tiles, no licence cost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054096"/>
            <a:ext cx="8412480" cy="3657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10896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331720" y="31089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Geolocation API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03520" y="310896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GPS position and accuracy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3438144"/>
            <a:ext cx="8412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4930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331720" y="349300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03520" y="34930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toilet and complaint data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3822192"/>
            <a:ext cx="8412480" cy="3657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8770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331720" y="387705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303520" y="387705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administrator login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42611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331720" y="42611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Storage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303520" y="426110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photographs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4590288"/>
            <a:ext cx="8412480" cy="3657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" y="464515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331720" y="46451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303520" y="46451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hosting with automatic deployment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65760" y="4974336"/>
            <a:ext cx="8412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" y="50292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2331720" y="50292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5303520" y="50292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management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System Modules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Modules of the System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4114800" cy="896112"/>
          </a:xfrm>
          <a:prstGeom prst="rect">
            <a:avLst/>
          </a:prstGeom>
          <a:solidFill>
            <a:srgbClr val="E8F5E9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34440"/>
            <a:ext cx="54864" cy="89611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44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Module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163677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live GPS and computes distance to every toilet.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4114800" cy="896112"/>
          </a:xfrm>
          <a:prstGeom prst="rect">
            <a:avLst/>
          </a:prstGeom>
          <a:solidFill>
            <a:srgbClr val="E3F2FD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234440"/>
            <a:ext cx="54864" cy="89611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44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Module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163677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toilets as markers with clustering and popups.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258568"/>
            <a:ext cx="4114800" cy="896112"/>
          </a:xfrm>
          <a:prstGeom prst="rect">
            <a:avLst/>
          </a:prstGeom>
          <a:solidFill>
            <a:srgbClr val="E0F2F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258568"/>
            <a:ext cx="54864" cy="896112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3682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Module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266090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and filters facilities by distance, type and rating.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2258568"/>
            <a:ext cx="4114800" cy="896112"/>
          </a:xfrm>
          <a:prstGeom prst="rect">
            <a:avLst/>
          </a:prstGeom>
          <a:solidFill>
            <a:srgbClr val="FFF8E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258568"/>
            <a:ext cx="54864" cy="896112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23682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Module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266090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one rating per device and updates the average.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282696"/>
            <a:ext cx="4114800" cy="896112"/>
          </a:xfrm>
          <a:prstGeom prst="rect">
            <a:avLst/>
          </a:prstGeom>
          <a:solidFill>
            <a:srgbClr val="FCE4EC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282696"/>
            <a:ext cx="54864" cy="896112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392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0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Module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368503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type, description, photographs and location.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3282696"/>
            <a:ext cx="4114800" cy="896112"/>
          </a:xfrm>
          <a:prstGeom prst="rect">
            <a:avLst/>
          </a:prstGeom>
          <a:solidFill>
            <a:srgbClr val="ECEFF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3282696"/>
            <a:ext cx="54864" cy="896112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3924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Module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368503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for viewing, resolving and reporting complaints.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System 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Is Structured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05840" y="1234440"/>
            <a:ext cx="7132320" cy="777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13258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618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Interface   ·   Map View   ·   Admin Dashboard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20299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4E0"/>
                </a:solidFill>
              </a:rPr>
              <a:t>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05840" y="2194560"/>
            <a:ext cx="7132320" cy="77724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22860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57860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Engine   ·   Filtering   ·   Complaint Handler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389120" y="2990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4E0"/>
                </a:solidFill>
              </a:rPr>
              <a:t>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" y="3154680"/>
            <a:ext cx="7132320" cy="777240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2461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5387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Firestore   ·   Firebase Storage   ·   Local Cache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4114800"/>
            <a:ext cx="7132320" cy="41148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420624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 — OpenStreetMap Tiles  ·  Browser Geolocation  ·  Netlify CDN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Database Design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Collections and Fields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2435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40280" y="12435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0" y="124358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572768"/>
            <a:ext cx="8412480" cy="36576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62763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40280" y="16276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englishName, area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0" y="162763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per public facility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1956816"/>
            <a:ext cx="8412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01168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240280" y="20116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lat, lng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20116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map coordinates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340864"/>
            <a:ext cx="8412480" cy="36576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3957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40280" y="23957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divyang, open, timing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69280" y="23957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accessibility and hours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724912"/>
            <a:ext cx="8412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77977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240280" y="27797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rating, votes, facilities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0" y="277977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feedback and amenities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108960"/>
            <a:ext cx="8412480" cy="36576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316382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40280" y="31638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toiletId, type, text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69280" y="31638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content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" y="3493008"/>
            <a:ext cx="8412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5478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240280" y="354787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deviceId, createdAt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69280" y="354787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and origin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3877056"/>
            <a:ext cx="8412480" cy="365760"/>
          </a:xfrm>
          <a:prstGeom prst="rect">
            <a:avLst/>
          </a:prstGeom>
          <a:solidFill>
            <a:srgbClr val="E0F2F1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39319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240280" y="39319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resolvedAt, resolvedBy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69280" y="39319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tracking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65760" y="4261104"/>
            <a:ext cx="84124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" y="431596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240280" y="43159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toiletId, deviceId, stars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669280" y="431596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duplicate voting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4261104"/>
            <a:ext cx="8412480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6" name="Text 44"/>
          <p:cNvSpPr/>
          <p:nvPr/>
        </p:nvSpPr>
        <p:spPr>
          <a:xfrm>
            <a:off x="530352" y="4315968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are updated inside a transaction so simultaneous votes are never miscounted.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User Workflow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Citizen Uses the App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1481328" cy="1554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3898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93192" y="18288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" y="213969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starts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10512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4E0"/>
                </a:solidFill>
              </a:rPr>
              <a:t>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75688" y="1261872"/>
            <a:ext cx="1481328" cy="1554480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5" name="Text 13"/>
          <p:cNvSpPr/>
          <p:nvPr/>
        </p:nvSpPr>
        <p:spPr>
          <a:xfrm>
            <a:off x="2075688" y="13898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48840" y="18288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List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48840" y="213969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first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566160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4E0"/>
                </a:solidFill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31336" y="1261872"/>
            <a:ext cx="1481328" cy="1554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3831336" y="13898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904488" y="18288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04488" y="213969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details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321808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4E0"/>
                </a:solidFill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86984" y="1261872"/>
            <a:ext cx="1481328" cy="1554480"/>
          </a:xfrm>
          <a:prstGeom prst="rect">
            <a:avLst/>
          </a:prstGeom>
          <a:solidFill>
            <a:srgbClr val="303F9F"/>
          </a:solidFill>
          <a:ln/>
        </p:spPr>
      </p:sp>
      <p:sp>
        <p:nvSpPr>
          <p:cNvPr id="25" name="Text 23"/>
          <p:cNvSpPr/>
          <p:nvPr/>
        </p:nvSpPr>
        <p:spPr>
          <a:xfrm>
            <a:off x="5586984" y="13898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660136" y="18288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60136" y="213969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route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077456" y="19019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4E0"/>
                </a:solidFill>
              </a:rPr>
              <a:t>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42632" y="1261872"/>
            <a:ext cx="1481328" cy="1554480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30" name="Text 28"/>
          <p:cNvSpPr/>
          <p:nvPr/>
        </p:nvSpPr>
        <p:spPr>
          <a:xfrm>
            <a:off x="7342632" y="1389888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415784" y="182880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/ Report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15784" y="2139696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sent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017520"/>
            <a:ext cx="8412480" cy="1115568"/>
          </a:xfrm>
          <a:prstGeom prst="rect">
            <a:avLst/>
          </a:prstGeom>
          <a:solidFill>
            <a:srgbClr val="E8F5E9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1089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8640" y="33832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visitor near Tophkhana opens the app. Within two seconds the list shows "Public Toilet, Tophkhana — 550 m".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36301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on Directions opens the walking route from their exact position.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48640" y="38770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toilet is dirty, they photograph it and submit a complaint before leaving.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Live Application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Working System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9" name="Image 0" descr="/sessions/ecstatic-festive-dirac/mnt/outputs/shot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70432"/>
            <a:ext cx="5943600" cy="295351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4169664"/>
            <a:ext cx="5943600" cy="274320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20624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list view — live at toilet-seva.netlify.app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92240" y="1170432"/>
            <a:ext cx="2286000" cy="3273552"/>
          </a:xfrm>
          <a:prstGeom prst="rect">
            <a:avLst/>
          </a:prstGeom>
          <a:solidFill>
            <a:srgbClr val="0D4A2F"/>
          </a:solidFill>
          <a:ln/>
        </p:spPr>
      </p:sp>
      <p:sp>
        <p:nvSpPr>
          <p:cNvPr id="13" name="Text 10"/>
          <p:cNvSpPr/>
          <p:nvPr/>
        </p:nvSpPr>
        <p:spPr>
          <a:xfrm>
            <a:off x="6638544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Here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38544" y="1664208"/>
            <a:ext cx="2011680" cy="364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Bilingual heading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638544" y="2046950"/>
            <a:ext cx="2011680" cy="364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26 facilities loaded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638544" y="2429691"/>
            <a:ext cx="2011680" cy="364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Filter chips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638544" y="2812433"/>
            <a:ext cx="2011680" cy="364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Cloud sync indicator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638544" y="3195175"/>
            <a:ext cx="2011680" cy="364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Rating and facilities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638544" y="3577917"/>
            <a:ext cx="2011680" cy="364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Directions · Rate · Share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638544" y="3960658"/>
            <a:ext cx="2011680" cy="364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Bottom navigation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Location and Maps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the Nearest Facility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pic>
        <p:nvPicPr>
          <p:cNvPr id="9" name="Image 0" descr="/sessions/ecstatic-festive-dirac/mnt/outputs/shot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70432"/>
            <a:ext cx="5760720" cy="26517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3867912"/>
            <a:ext cx="576072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3904488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26 facilities plotted on the live map of Ahilyanagar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309360" y="1170432"/>
            <a:ext cx="2468880" cy="2971800"/>
          </a:xfrm>
          <a:prstGeom prst="rect">
            <a:avLst/>
          </a:prstGeom>
          <a:solidFill>
            <a:srgbClr val="1B3D1C"/>
          </a:solidFill>
          <a:ln/>
        </p:spPr>
      </p:sp>
      <p:sp>
        <p:nvSpPr>
          <p:cNvPr id="13" name="Text 10"/>
          <p:cNvSpPr/>
          <p:nvPr/>
        </p:nvSpPr>
        <p:spPr>
          <a:xfrm>
            <a:off x="6455664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Features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55664" y="1664208"/>
            <a:ext cx="2194560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Leaflet.js + OpenStreetMap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455664" y="2060448"/>
            <a:ext cx="2194560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position of the citizen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455664" y="2456688"/>
            <a:ext cx="2194560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Accuracy circle shown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455664" y="2852928"/>
            <a:ext cx="2194560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Clustering when zoomed out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55664" y="3249168"/>
            <a:ext cx="2194560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Popup on every marker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455664" y="3645408"/>
            <a:ext cx="2194560" cy="37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One-tap walking directions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65760" y="4224528"/>
            <a:ext cx="8412480" cy="402336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1" name="Text 18"/>
          <p:cNvSpPr/>
          <p:nvPr/>
        </p:nvSpPr>
        <p:spPr>
          <a:xfrm>
            <a:off x="530352" y="4315968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is computed with the Haversine formula from live GPS, and the list reorders itself as the citizen walks.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Complaint System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 a Problem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9" name="Image 0" descr="/sessions/ecstatic-festive-dirac/mnt/outputs/shot_complai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70432"/>
            <a:ext cx="5760720" cy="287121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4087368"/>
            <a:ext cx="5760720" cy="274320"/>
          </a:xfrm>
          <a:prstGeom prst="rect">
            <a:avLst/>
          </a:prstGeom>
          <a:solidFill>
            <a:srgbClr val="F3E5F5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123944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20D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form with all ten categories, shown in both languages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309360" y="1170432"/>
            <a:ext cx="2468880" cy="3191256"/>
          </a:xfrm>
          <a:prstGeom prst="rect">
            <a:avLst/>
          </a:prstGeom>
          <a:solidFill>
            <a:srgbClr val="320D61"/>
          </a:solidFill>
          <a:ln/>
        </p:spPr>
      </p:sp>
      <p:sp>
        <p:nvSpPr>
          <p:cNvPr id="13" name="Text 10"/>
          <p:cNvSpPr/>
          <p:nvPr/>
        </p:nvSpPr>
        <p:spPr>
          <a:xfrm>
            <a:off x="6455664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Recorded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55664" y="1664208"/>
            <a:ext cx="2194560" cy="352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Which facility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455664" y="2035193"/>
            <a:ext cx="2194560" cy="352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Type — multiple allowed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455664" y="2406178"/>
            <a:ext cx="2194560" cy="352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Written description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455664" y="2777163"/>
            <a:ext cx="2194560" cy="352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Up to three photographs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55664" y="3148149"/>
            <a:ext cx="2194560" cy="352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Waiting time, if relevant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455664" y="3519134"/>
            <a:ext cx="2194560" cy="352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Location and time, automatic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455664" y="3890119"/>
            <a:ext cx="2194560" cy="352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Ten points to the citizen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1579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· Bilingual Interface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Marathi and English Together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4114800" cy="2697480"/>
          </a:xfrm>
          <a:prstGeom prst="rect">
            <a:avLst/>
          </a:prstGeom>
          <a:solidFill>
            <a:srgbClr val="E1F0FB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1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 Languages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1810512"/>
            <a:ext cx="36576" cy="23774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17739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citizens read Marathi comfortably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212848"/>
            <a:ext cx="36576" cy="23774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2176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and students prefer English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2615184"/>
            <a:ext cx="36576" cy="23774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2578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appear at once — no switching needed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017520"/>
            <a:ext cx="36576" cy="23774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298094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Officials can read either version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3419856"/>
            <a:ext cx="36576" cy="23774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names are stored in both languages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188720"/>
            <a:ext cx="4114800" cy="2697480"/>
          </a:xfrm>
          <a:prstGeom prst="rect">
            <a:avLst/>
          </a:prstGeom>
          <a:solidFill>
            <a:srgbClr val="013A6B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Appears on Screen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46320" y="1691640"/>
            <a:ext cx="3749040" cy="9601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5010912" y="181051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Toilet, Tophkhana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10912" y="21214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सार्वजनिक शौचालय, तोफखाना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10912" y="237744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Tophkhana · 24 hours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2788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is shown large, Marathi directly below in smaller type — every label, button and message.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261104"/>
            <a:ext cx="8412480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9" name="Text 27"/>
          <p:cNvSpPr/>
          <p:nvPr/>
        </p:nvSpPr>
        <p:spPr>
          <a:xfrm>
            <a:off x="530352" y="4315968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translation system drives the whole interface, so adding a third language later is straightforward.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· Admin Dashboard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for the Municipal Corporation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pic>
        <p:nvPicPr>
          <p:cNvPr id="9" name="Image 0" descr="/sessions/ecstatic-festive-dirac/mnt/outputs/shot_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70432"/>
            <a:ext cx="5760720" cy="285292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4069080"/>
            <a:ext cx="5760720" cy="274320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105656"/>
            <a:ext cx="5577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dashboard — live statistics and management tabs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309360" y="1170432"/>
            <a:ext cx="2468880" cy="3172968"/>
          </a:xfrm>
          <a:prstGeom prst="rect">
            <a:avLst/>
          </a:prstGeom>
          <a:solidFill>
            <a:srgbClr val="222E33"/>
          </a:solidFill>
          <a:ln/>
        </p:spPr>
      </p:sp>
      <p:sp>
        <p:nvSpPr>
          <p:cNvPr id="13" name="Text 10"/>
          <p:cNvSpPr/>
          <p:nvPr/>
        </p:nvSpPr>
        <p:spPr>
          <a:xfrm>
            <a:off x="6455664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Tools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55664" y="1664208"/>
            <a:ext cx="2194560" cy="350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facility and complaint counts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455664" y="2032581"/>
            <a:ext cx="2194560" cy="350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Complaint queue with photographs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455664" y="2400953"/>
            <a:ext cx="2194560" cy="350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Open or close any facility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455664" y="2769326"/>
            <a:ext cx="2194560" cy="350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Location editor — drag the pin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55664" y="3137698"/>
            <a:ext cx="2194560" cy="350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QR code for every toilet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455664" y="3506071"/>
            <a:ext cx="2194560" cy="350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a new facility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455664" y="3874443"/>
            <a:ext cx="2194560" cy="3500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Secure login, session expires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· Security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Protecting Data and Access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07008"/>
            <a:ext cx="841248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207008"/>
            <a:ext cx="4572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" y="12710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Rules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15361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data is public to read but only an authenticated officer can modify it. Complaints can be submitted by anyone but read only by officers.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956816"/>
            <a:ext cx="841248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Shape 12"/>
          <p:cNvSpPr/>
          <p:nvPr/>
        </p:nvSpPr>
        <p:spPr>
          <a:xfrm>
            <a:off x="365760" y="1956816"/>
            <a:ext cx="4572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" y="202082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Restriction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03504" y="22860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Firebase key is locked to the official domain, so it cannot be reused on any other website.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706624"/>
            <a:ext cx="841248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8" name="Shape 16"/>
          <p:cNvSpPr/>
          <p:nvPr/>
        </p:nvSpPr>
        <p:spPr>
          <a:xfrm>
            <a:off x="365760" y="2706624"/>
            <a:ext cx="4572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" y="27706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Admin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03504" y="30358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 access uses Firebase Authentication with expiring session tokens.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456432"/>
            <a:ext cx="8412480" cy="6400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2" name="Shape 20"/>
          <p:cNvSpPr/>
          <p:nvPr/>
        </p:nvSpPr>
        <p:spPr>
          <a:xfrm>
            <a:off x="365760" y="3456432"/>
            <a:ext cx="4572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" y="35204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Prevention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03504" y="378561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device may rate a facility only once, enforced at the database level.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261104"/>
            <a:ext cx="8412480" cy="3657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" y="4315968"/>
            <a:ext cx="8092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rules are enforced on the server, so they cannot be bypassed from the browser.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· Core Features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Capabilities of the System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1993392" cy="1325880"/>
          </a:xfrm>
          <a:prstGeom prst="rect">
            <a:avLst/>
          </a:prstGeom>
          <a:solidFill>
            <a:srgbClr val="E8F5E9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34440"/>
            <a:ext cx="1993392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" y="139903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First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" y="1801368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sorted by live walking distance.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96312" y="1234440"/>
            <a:ext cx="1993392" cy="1325880"/>
          </a:xfrm>
          <a:prstGeom prst="rect">
            <a:avLst/>
          </a:prstGeom>
          <a:solidFill>
            <a:srgbClr val="E3F2FD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96312" y="1234440"/>
            <a:ext cx="1993392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2615184" y="139903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4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15184" y="1801368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Markers, clustering and live position.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26864" y="1234440"/>
            <a:ext cx="1993392" cy="1325880"/>
          </a:xfrm>
          <a:prstGeom prst="rect">
            <a:avLst/>
          </a:prstGeom>
          <a:solidFill>
            <a:srgbClr val="E0F2F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1234440"/>
            <a:ext cx="1993392" cy="5486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19" name="Text 17"/>
          <p:cNvSpPr/>
          <p:nvPr/>
        </p:nvSpPr>
        <p:spPr>
          <a:xfrm>
            <a:off x="4745736" y="139903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45736" y="1801368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Walking route opens in one tap.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57416" y="1234440"/>
            <a:ext cx="1993392" cy="1325880"/>
          </a:xfrm>
          <a:prstGeom prst="rect">
            <a:avLst/>
          </a:prstGeom>
          <a:solidFill>
            <a:srgbClr val="FFF8E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57416" y="1234440"/>
            <a:ext cx="1993392" cy="54864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23" name="Text 21"/>
          <p:cNvSpPr/>
          <p:nvPr/>
        </p:nvSpPr>
        <p:spPr>
          <a:xfrm>
            <a:off x="6876288" y="1399032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76288" y="1801368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feedback on every facility.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2715768"/>
            <a:ext cx="1993392" cy="1325880"/>
          </a:xfrm>
          <a:prstGeom prst="rect">
            <a:avLst/>
          </a:prstGeom>
          <a:solidFill>
            <a:srgbClr val="F3E5F5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715768"/>
            <a:ext cx="1993392" cy="54864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" y="28803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20D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Complaints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4632" y="3282696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or gallery, up to three images.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496312" y="2715768"/>
            <a:ext cx="1993392" cy="1325880"/>
          </a:xfrm>
          <a:prstGeom prst="rect">
            <a:avLst/>
          </a:prstGeom>
          <a:solidFill>
            <a:srgbClr val="FCE4EC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96312" y="2715768"/>
            <a:ext cx="1993392" cy="54864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31" name="Text 29"/>
          <p:cNvSpPr/>
          <p:nvPr/>
        </p:nvSpPr>
        <p:spPr>
          <a:xfrm>
            <a:off x="2615184" y="28803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0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15184" y="3282696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Women, accessible, open now, top rated.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26864" y="2715768"/>
            <a:ext cx="1993392" cy="1325880"/>
          </a:xfrm>
          <a:prstGeom prst="rect">
            <a:avLst/>
          </a:prstGeom>
          <a:solidFill>
            <a:srgbClr val="E8EAF6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26864" y="2715768"/>
            <a:ext cx="1993392" cy="54864"/>
          </a:xfrm>
          <a:prstGeom prst="rect">
            <a:avLst/>
          </a:prstGeom>
          <a:solidFill>
            <a:srgbClr val="303F9F"/>
          </a:solidFill>
          <a:ln/>
        </p:spPr>
      </p:sp>
      <p:sp>
        <p:nvSpPr>
          <p:cNvPr id="35" name="Text 33"/>
          <p:cNvSpPr/>
          <p:nvPr/>
        </p:nvSpPr>
        <p:spPr>
          <a:xfrm>
            <a:off x="4745736" y="28803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App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45736" y="3282696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home screen, works offline.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57416" y="2715768"/>
            <a:ext cx="1993392" cy="1325880"/>
          </a:xfrm>
          <a:prstGeom prst="rect">
            <a:avLst/>
          </a:prstGeom>
          <a:solidFill>
            <a:srgbClr val="FFF3E0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57416" y="2715768"/>
            <a:ext cx="1993392" cy="54864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39" name="Text 37"/>
          <p:cNvSpPr/>
          <p:nvPr/>
        </p:nvSpPr>
        <p:spPr>
          <a:xfrm>
            <a:off x="6876288" y="2880360"/>
            <a:ext cx="1755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Access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76288" y="3282696"/>
            <a:ext cx="17556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at the toilet to complain instantly.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· System Benefits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City Gains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2697480" cy="1298448"/>
          </a:xfrm>
          <a:prstGeom prst="rect">
            <a:avLst/>
          </a:prstGeom>
          <a:solidFill>
            <a:srgbClr val="E8F5E9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34440"/>
            <a:ext cx="2697480" cy="548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" y="1417320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Citizens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" y="1746504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toilet can be found in seconds, at any hour, anywhere in the city.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18688" y="1234440"/>
            <a:ext cx="2697480" cy="1298448"/>
          </a:xfrm>
          <a:prstGeom prst="rect">
            <a:avLst/>
          </a:prstGeom>
          <a:solidFill>
            <a:srgbClr val="FCE4EC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1234440"/>
            <a:ext cx="2697480" cy="54864"/>
          </a:xfrm>
          <a:prstGeom prst="rect">
            <a:avLst/>
          </a:prstGeom>
          <a:solidFill>
            <a:srgbClr val="880E4F"/>
          </a:solidFill>
          <a:ln/>
        </p:spPr>
      </p:sp>
      <p:sp>
        <p:nvSpPr>
          <p:cNvPr id="15" name="Text 13"/>
          <p:cNvSpPr/>
          <p:nvPr/>
        </p:nvSpPr>
        <p:spPr>
          <a:xfrm>
            <a:off x="3364992" y="1417320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0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Women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64992" y="1746504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with sanitary provision and safety are clearly marked.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71616" y="1234440"/>
            <a:ext cx="2697480" cy="1298448"/>
          </a:xfrm>
          <a:prstGeom prst="rect">
            <a:avLst/>
          </a:prstGeom>
          <a:solidFill>
            <a:srgbClr val="E3F2FD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71616" y="1234440"/>
            <a:ext cx="26974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417320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4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Divyang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1746504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facilities can be filtered and located separately.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697480"/>
            <a:ext cx="2697480" cy="1298448"/>
          </a:xfrm>
          <a:prstGeom prst="rect">
            <a:avLst/>
          </a:prstGeom>
          <a:solidFill>
            <a:srgbClr val="ECEFF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697480"/>
            <a:ext cx="2697480" cy="54864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23" name="Text 21"/>
          <p:cNvSpPr/>
          <p:nvPr/>
        </p:nvSpPr>
        <p:spPr>
          <a:xfrm>
            <a:off x="512064" y="2880360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Corporation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2064" y="3209544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evidence of ground conditions, with photographs and dates.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18688" y="2697480"/>
            <a:ext cx="2697480" cy="1298448"/>
          </a:xfrm>
          <a:prstGeom prst="rect">
            <a:avLst/>
          </a:prstGeom>
          <a:solidFill>
            <a:srgbClr val="FFF8E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18688" y="2697480"/>
            <a:ext cx="2697480" cy="54864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27" name="Text 25"/>
          <p:cNvSpPr/>
          <p:nvPr/>
        </p:nvSpPr>
        <p:spPr>
          <a:xfrm>
            <a:off x="3364992" y="2880360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Running Cost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64992" y="3209544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used are within their free tiers.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71616" y="2697480"/>
            <a:ext cx="2697480" cy="1298448"/>
          </a:xfrm>
          <a:prstGeom prst="rect">
            <a:avLst/>
          </a:prstGeom>
          <a:solidFill>
            <a:srgbClr val="E0F2F1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71616" y="2697480"/>
            <a:ext cx="2697480" cy="54864"/>
          </a:xfrm>
          <a:prstGeom prst="rect">
            <a:avLst/>
          </a:prstGeom>
          <a:solidFill>
            <a:srgbClr val="00695C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2880360"/>
            <a:ext cx="2404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Swachh Bharat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0" y="3209544"/>
            <a:ext cx="2404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measurable sanitation data for mission reporting.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F57F1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· Future Scope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Planned Enhancements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8412480" cy="621792"/>
          </a:xfrm>
          <a:prstGeom prst="rect">
            <a:avLst/>
          </a:prstGeom>
          <a:solidFill>
            <a:srgbClr val="F7F9F8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34440"/>
            <a:ext cx="1143000" cy="6217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14173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645920" y="13075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Store Release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645920" y="156362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web app as an Android application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60920" y="1399032"/>
            <a:ext cx="1234440" cy="292608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15" name="Text 13"/>
          <p:cNvSpPr/>
          <p:nvPr/>
        </p:nvSpPr>
        <p:spPr>
          <a:xfrm>
            <a:off x="7360920" y="14356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1965960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965960"/>
            <a:ext cx="1143000" cy="62179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1488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645920" y="2039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645920" y="229514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officers the moment a complaint arrives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60920" y="2130552"/>
            <a:ext cx="1234440" cy="292608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2" name="Text 20"/>
          <p:cNvSpPr/>
          <p:nvPr/>
        </p:nvSpPr>
        <p:spPr>
          <a:xfrm>
            <a:off x="7360920" y="216712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term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2697480"/>
            <a:ext cx="8412480" cy="621792"/>
          </a:xfrm>
          <a:prstGeom prst="rect">
            <a:avLst/>
          </a:prstGeom>
          <a:solidFill>
            <a:srgbClr val="F7F9F8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697480"/>
            <a:ext cx="1143000" cy="621792"/>
          </a:xfrm>
          <a:prstGeom prst="rect">
            <a:avLst/>
          </a:prstGeom>
          <a:solidFill>
            <a:srgbClr val="4A148C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28803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645920" y="27706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A1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Assignment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645920" y="302666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each complaint to the responsible sanitation worker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60920" y="2862072"/>
            <a:ext cx="1234440" cy="292608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29" name="Text 27"/>
          <p:cNvSpPr/>
          <p:nvPr/>
        </p:nvSpPr>
        <p:spPr>
          <a:xfrm>
            <a:off x="7360920" y="289864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term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429000"/>
            <a:ext cx="84124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429000"/>
            <a:ext cx="1143000" cy="621792"/>
          </a:xfrm>
          <a:prstGeom prst="rect">
            <a:avLst/>
          </a:prstGeom>
          <a:solidFill>
            <a:srgbClr val="E07B00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361188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645920" y="3502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Expansion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645920" y="3758184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other municipal corporations in Maharashtra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360920" y="3593592"/>
            <a:ext cx="1234440" cy="292608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36" name="Text 34"/>
          <p:cNvSpPr/>
          <p:nvPr/>
        </p:nvSpPr>
        <p:spPr>
          <a:xfrm>
            <a:off x="7360920" y="36301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5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4224528"/>
            <a:ext cx="8412480" cy="402336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31596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44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planned — a custom domain, multilingual support beyond Marathi, and an open sanitation data portal.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32688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32688"/>
            <a:ext cx="9144000" cy="4114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2801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E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· 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402336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479145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4791456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234440"/>
            <a:ext cx="8412480" cy="1051560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turns a scattered, invisible public service into a mapped, rated and accountable one — at no running cost.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2505456"/>
            <a:ext cx="41148" cy="21945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45059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26 public and community toilets of Ahilyanagar are mapped with live walking distance.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889504"/>
            <a:ext cx="41148" cy="21945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283464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can rate a facility and lodge a photographic complaint in under a minute.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3273552"/>
            <a:ext cx="41148" cy="21945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" y="321868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Municipal Corporation receives evidence-based reports through a secure dashboard.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657600"/>
            <a:ext cx="41148" cy="21945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60273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serves Marathi and English readers simultaneously.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4041648"/>
            <a:ext cx="41148" cy="21945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398678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on free and open technologies, and already live on the internet.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A2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3657600" y="2468880"/>
            <a:ext cx="1828800" cy="25603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65176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0" y="3200400"/>
            <a:ext cx="3657600" cy="402336"/>
          </a:xfrm>
          <a:prstGeom prst="rect">
            <a:avLst/>
          </a:prstGeom>
          <a:solidFill>
            <a:srgbClr val="1B6B45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3282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toilet-seva.netlify.app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D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Toilet Seva  ·  Public Sanitation Locator &amp; Complaint System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Jangale Navnath  ·  jangalenavnath333@gmail.com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2026-08-16T17:16:11Z</dcterms:created>
  <dcterms:modified xsi:type="dcterms:W3CDTF">2026-08-16T17:16:11Z</dcterms:modified>
</cp:coreProperties>
</file>